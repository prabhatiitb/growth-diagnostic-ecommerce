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(R$)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Jan'17</c:v>
                  </c:pt>
                  <c:pt idx="1">
                    <c:v>Feb'17</c:v>
                  </c:pt>
                  <c:pt idx="2">
                    <c:v>Mar'17</c:v>
                  </c:pt>
                  <c:pt idx="3">
                    <c:v>Apr'17</c:v>
                  </c:pt>
                  <c:pt idx="4">
                    <c:v>May'17</c:v>
                  </c:pt>
                  <c:pt idx="5">
                    <c:v>Jun'17</c:v>
                  </c:pt>
                  <c:pt idx="6">
                    <c:v>Jul'17</c:v>
                  </c:pt>
                  <c:pt idx="7">
                    <c:v>Aug'17</c:v>
                  </c:pt>
                  <c:pt idx="8">
                    <c:v>Sep'17</c:v>
                  </c:pt>
                  <c:pt idx="9">
                    <c:v>Oct'17</c:v>
                  </c:pt>
                  <c:pt idx="10">
                    <c:v>Nov'17</c:v>
                  </c:pt>
                  <c:pt idx="11">
                    <c:v>Dec'17</c:v>
                  </c:pt>
                  <c:pt idx="12">
                    <c:v>Jan'18</c:v>
                  </c:pt>
                  <c:pt idx="13">
                    <c:v>Feb'18</c:v>
                  </c:pt>
                  <c:pt idx="14">
                    <c:v>Mar'18</c:v>
                  </c:pt>
                  <c:pt idx="15">
                    <c:v>Apr'18</c:v>
                  </c:pt>
                  <c:pt idx="16">
                    <c:v>May'18</c:v>
                  </c:pt>
                  <c:pt idx="17">
                    <c:v>Jun'18</c:v>
                  </c:pt>
                  <c:pt idx="18">
                    <c:v>Jul'18</c:v>
                  </c:pt>
                  <c:pt idx="19">
                    <c:v>Aug'18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111798</c:v>
                </c:pt>
                <c:pt idx="1">
                  <c:v>234223</c:v>
                </c:pt>
                <c:pt idx="2">
                  <c:v>359199</c:v>
                </c:pt>
                <c:pt idx="3">
                  <c:v>340670</c:v>
                </c:pt>
                <c:pt idx="4">
                  <c:v>489338</c:v>
                </c:pt>
                <c:pt idx="5">
                  <c:v>421923</c:v>
                </c:pt>
                <c:pt idx="6">
                  <c:v>481605</c:v>
                </c:pt>
                <c:pt idx="7">
                  <c:v>554700</c:v>
                </c:pt>
                <c:pt idx="8">
                  <c:v>607400</c:v>
                </c:pt>
                <c:pt idx="9">
                  <c:v>648248</c:v>
                </c:pt>
                <c:pt idx="10">
                  <c:v>987765</c:v>
                </c:pt>
                <c:pt idx="11">
                  <c:v>726033</c:v>
                </c:pt>
                <c:pt idx="12">
                  <c:v>924645</c:v>
                </c:pt>
                <c:pt idx="13">
                  <c:v>826437</c:v>
                </c:pt>
                <c:pt idx="14">
                  <c:v>953356</c:v>
                </c:pt>
                <c:pt idx="15">
                  <c:v>973534</c:v>
                </c:pt>
                <c:pt idx="16">
                  <c:v>977545</c:v>
                </c:pt>
                <c:pt idx="17">
                  <c:v>856078</c:v>
                </c:pt>
                <c:pt idx="18">
                  <c:v>867953</c:v>
                </c:pt>
                <c:pt idx="19">
                  <c:v>838577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Revenue (R$)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Month-1 Retention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Sheet1!$A$2:$A$20</c:f>
              <c:multiLvlStrCache>
                <c:ptCount val="19"/>
                <c:lvl>
                  <c:pt idx="0">
                    <c:v>Jan'17</c:v>
                  </c:pt>
                  <c:pt idx="1">
                    <c:v>Feb'17</c:v>
                  </c:pt>
                  <c:pt idx="2">
                    <c:v>Mar'17</c:v>
                  </c:pt>
                  <c:pt idx="3">
                    <c:v>Apr'17</c:v>
                  </c:pt>
                  <c:pt idx="4">
                    <c:v>May'17</c:v>
                  </c:pt>
                  <c:pt idx="5">
                    <c:v>Jun'17</c:v>
                  </c:pt>
                  <c:pt idx="6">
                    <c:v>Jul'17</c:v>
                  </c:pt>
                  <c:pt idx="7">
                    <c:v>Aug'17</c:v>
                  </c:pt>
                  <c:pt idx="8">
                    <c:v>Sep'17</c:v>
                  </c:pt>
                  <c:pt idx="9">
                    <c:v>Oct'17</c:v>
                  </c:pt>
                  <c:pt idx="10">
                    <c:v>Nov'17</c:v>
                  </c:pt>
                  <c:pt idx="11">
                    <c:v>Dec'17</c:v>
                  </c:pt>
                  <c:pt idx="12">
                    <c:v>Jan'18</c:v>
                  </c:pt>
                  <c:pt idx="13">
                    <c:v>Feb'18</c:v>
                  </c:pt>
                  <c:pt idx="14">
                    <c:v>Mar'18</c:v>
                  </c:pt>
                  <c:pt idx="15">
                    <c:v>Apr'18</c:v>
                  </c:pt>
                  <c:pt idx="16">
                    <c:v>May'18</c:v>
                  </c:pt>
                  <c:pt idx="17">
                    <c:v>Jun'18</c:v>
                  </c:pt>
                  <c:pt idx="18">
                    <c:v>Jul'18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0.28</c:v>
                </c:pt>
                <c:pt idx="1">
                  <c:v>0.18</c:v>
                </c:pt>
                <c:pt idx="2">
                  <c:v>0.44</c:v>
                </c:pt>
                <c:pt idx="3">
                  <c:v>0.62</c:v>
                </c:pt>
                <c:pt idx="4">
                  <c:v>0.46</c:v>
                </c:pt>
                <c:pt idx="5">
                  <c:v>0.49</c:v>
                </c:pt>
                <c:pt idx="6">
                  <c:v>0.53</c:v>
                </c:pt>
                <c:pt idx="7">
                  <c:v>0.69</c:v>
                </c:pt>
                <c:pt idx="8">
                  <c:v>0.7</c:v>
                </c:pt>
                <c:pt idx="9">
                  <c:v>0.72</c:v>
                </c:pt>
                <c:pt idx="10">
                  <c:v>0.57</c:v>
                </c:pt>
                <c:pt idx="11">
                  <c:v>0.21</c:v>
                </c:pt>
                <c:pt idx="12">
                  <c:v>0.34</c:v>
                </c:pt>
                <c:pt idx="13">
                  <c:v>0.35</c:v>
                </c:pt>
                <c:pt idx="14">
                  <c:v>0.4</c:v>
                </c:pt>
                <c:pt idx="15">
                  <c:v>0.59</c:v>
                </c:pt>
                <c:pt idx="16">
                  <c:v>0.52</c:v>
                </c:pt>
                <c:pt idx="17">
                  <c:v>0.43</c:v>
                </c:pt>
                <c:pt idx="18">
                  <c:v>0.52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Month-1 Retention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Total 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4E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577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6D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4EAF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Promising
New/High-Value</c:v>
                  </c:pt>
                  <c:pt idx="1">
                    <c:v>Standard
One-Timer</c:v>
                  </c:pt>
                  <c:pt idx="2">
                    <c:v>At Risk
(high value, quiet)</c:v>
                  </c:pt>
                  <c:pt idx="3">
                    <c:v>Lost
(one-time, gone)</c:v>
                  </c:pt>
                  <c:pt idx="4">
                    <c:v>Loyal
(at risk)</c:v>
                  </c:pt>
                  <c:pt idx="5">
                    <c:v>Champions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28.4</c:v>
                </c:pt>
                <c:pt idx="1">
                  <c:v>28.1</c:v>
                </c:pt>
                <c:pt idx="2">
                  <c:v>27.3</c:v>
                </c:pt>
                <c:pt idx="3">
                  <c:v>10.6</c:v>
                </c:pt>
                <c:pt idx="4">
                  <c:v>3.1</c:v>
                </c:pt>
                <c:pt idx="5">
                  <c:v>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 of Total Revenue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Freight as % of Order Value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FA3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CBB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B4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7A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SP
(40,406 ord.)</c:v>
                  </c:pt>
                  <c:pt idx="1">
                    <c:v>RJ
(12,310)</c:v>
                  </c:pt>
                  <c:pt idx="2">
                    <c:v>MG
(11,319)</c:v>
                  </c:pt>
                  <c:pt idx="3">
                    <c:v>PE
(1,587)</c:v>
                  </c:pt>
                  <c:pt idx="4">
                    <c:v>MA
(713)</c:v>
                  </c:pt>
                  <c:pt idx="5">
                    <c:v>RR
(40)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13.85</c:v>
                </c:pt>
                <c:pt idx="1">
                  <c:v>16.84</c:v>
                </c:pt>
                <c:pt idx="2">
                  <c:v>17.16</c:v>
                </c:pt>
                <c:pt idx="3">
                  <c:v>22.66</c:v>
                </c:pt>
                <c:pt idx="4">
                  <c:v>26.22</c:v>
                </c:pt>
                <c:pt idx="5">
                  <c:v>27.83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Freight % of Order Value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Diagnosing a Growth Plateau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Retention &amp; Unit-Economics Analysis of an E-Commerce Marketplace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96,211 orders  •  93,104 customers  •  Jan 2017 – Aug 2018  •  Olist (Brazil) Public Dataset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146304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an independent analytics case study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growth, once steady, flattened through 2018. Leadership needs to know why — and what to do about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317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growth healthy?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is it masking a retention problem beneath the surface?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1031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3317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our valuable customers?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9260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are we actually protecting that segment?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5262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revenue come from?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51206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and categories drive it?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42976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45262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should we invest?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51206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have the economics to support growth?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Retention Diagnostic  |  Olist E-Commerce Marketplace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analytical lenses, applied to two years of real transaction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Analytics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AOV, and category trends across 96K+ delivered orders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2900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Analysis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333756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Month-by-month retention tracked per acquisition cohort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RFM Segmentation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333756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scored on Recency, Frequency, Monetary value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8972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8972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89720" y="333756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cost as a share of order value, by region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Retention Diagnostic  |  Olist E-Commerce Marketplace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1: Growth Plateaued in 2018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climbed steadily through 2017, then flattened — despite a strong Black Friday spike in November.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9202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321040" y="20574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R$13.2M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321040" y="26974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analyzed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96,211 orders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138160" y="36576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8321040" y="3794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flattened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21040" y="42519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hovered between R$820K–980K/month through 2018 with no compounding growth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Retention Diagnostic  |  Olist E-Commerce Marketplace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2: Retention Is Structurally Near-Zero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acquisition cohort shows the same pattern: 100% active at Month 0, collapsing below 1% by Month 1 — and staying there.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9202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C0392B"/>
          </a:solidFill>
          <a:ln/>
        </p:spPr>
      </p:sp>
      <p:sp>
        <p:nvSpPr>
          <p:cNvPr id="6" name="Text 3"/>
          <p:cNvSpPr/>
          <p:nvPr/>
        </p:nvSpPr>
        <p:spPr>
          <a:xfrm>
            <a:off x="8321040" y="21031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321040" y="28803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Month-1 retention across every cohort, Jan 2017 – Jul 2018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138160" y="384048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832104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321040" y="434340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has never come from repeat purchases — it depends entirely on new-customer acquisition volume.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Retention Diagnostic  |  Olist E-Commerce Marketplace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3: One-Time Buyers Drive Most Revenue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confirms it: "Champions" — the customers most playbooks target first — are only 1.3% of customers and 2.5% of revenue.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70408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828800"/>
            <a:ext cx="3794760" cy="4160520"/>
          </a:xfrm>
          <a:prstGeom prst="roundRect">
            <a:avLst>
              <a:gd name="adj" fmla="val 1928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20574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opportunity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2440" y="256032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Promising New/High-Value + At Risk (high value, gone quiet) together hold 55.7% of all revenue — customers who bought once, spent well, and never returned.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4023360"/>
            <a:ext cx="3337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even a fraction of this group into repeat buyers would outweigh any "protect the Champions" strategy.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Retention Diagnostic  |  Olist E-Commerce Marketplace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4: Fulfillment Cost Depends on Geography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cost eats 13.9% of order value in the core hub state (São Paulo) but nearly double that in remote states.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73152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82880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20574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66760" y="256032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states cluster near São Paulo (Olist's hub) and enjoy efficient freight. Low-volume, remote states carry both weak demand AND weak unit economics.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66760" y="41148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into these states without a regional fulfillment hub would extend the same cost problem quick-commerce players face with last-mile delivery.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Retention Diagnostic  |  Olist E-Commerce Marketplace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the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09928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099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88720" y="161848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plateaued in 2018 (Finding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70048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700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5786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…because retention is structurally near-zero — there was never a repeat-purchase engine to fall back on (Finding 2)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630168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301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353872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…confirmed by RFM: over half of all revenue sits in one-time, high-value buyers who never returned (Finding 3)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590288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90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449884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geographic expansion into new markets brings weaker unit economics, not a fix (Finding 4)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55778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A387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7150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this is an acquisition-dependent business with no organic retention engine — and its next expansion markets have worse economics than its current core.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prioritized moves, ranked by expected impact relative to effort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0" y="210312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 second-purchase conversion program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2532888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28,099 customers in "Promising" and "At Risk" segments (55.7% of revenue) with a time-boxed incentive for a second order — the single highest-leverage lever given near-zero organic retention.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57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28800" y="361188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category mix toward repeat-friendly products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28800" y="4041648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health_beauty leads both revenue (R$1.23M) and order volume — consumable categories like this naturally support repeat behavior better than one-off categories like watches_gifts.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166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828800" y="512064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deepening the core hub before geographic expansion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28800" y="5550408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SP's freight ratio (13.9%) is nearly half that of remote states (24–28%). Fund a regional fulfillment hub before scaling into low-density markets — or expansion will import the same margin problem.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Retention Diagnostic  |  Olist E-Commerce Marketplace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+55.7%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sits with customers who bought once — the addressable base for a retention program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617720" y="21031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617720" y="306324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cost gap between core and remote states — the economics case for hub-first expansion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21031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503920" y="306324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prioritized, data-backed recommendations ready for stakeholder review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846320"/>
            <a:ext cx="1463040" cy="45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SQL queries, and full dashboards available on request.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2026-07-31T17:43:26Z</dcterms:created>
  <dcterms:modified xsi:type="dcterms:W3CDTF">2026-07-31T17:43:26Z</dcterms:modified>
</cp:coreProperties>
</file>